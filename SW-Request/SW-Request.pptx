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Lexend SemiBold"/>
      <p:regular r:id="rId29"/>
      <p:bold r:id="rId30"/>
    </p:embeddedFont>
    <p:embeddedFont>
      <p:font typeface="Lexend"/>
      <p:regular r:id="rId31"/>
      <p:bold r:id="rId32"/>
    </p:embeddedFont>
    <p:embeddedFont>
      <p:font typeface="Oswald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exendSemiBo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exend-regular.fntdata"/><Relationship Id="rId30" Type="http://schemas.openxmlformats.org/officeDocument/2006/relationships/font" Target="fonts/LexendSemiBold-bold.fntdata"/><Relationship Id="rId11" Type="http://schemas.openxmlformats.org/officeDocument/2006/relationships/slide" Target="slides/slide6.xml"/><Relationship Id="rId33" Type="http://schemas.openxmlformats.org/officeDocument/2006/relationships/font" Target="fonts/Oswald-regular.fntdata"/><Relationship Id="rId10" Type="http://schemas.openxmlformats.org/officeDocument/2006/relationships/slide" Target="slides/slide5.xml"/><Relationship Id="rId32" Type="http://schemas.openxmlformats.org/officeDocument/2006/relationships/font" Target="fonts/Lexen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Oswald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72aebe820a_0_1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72aebe820a_0_1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72aebe820a_0_1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72aebe820a_0_1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72aebe820a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72aebe820a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72aebe820a_0_1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72aebe820a_0_1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72aebe820a_0_1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72aebe820a_0_1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72aebe820a_0_1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72aebe820a_0_1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72aebe820a_0_1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72aebe820a_0_1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72aebe820a_0_1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72aebe820a_0_1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72aebe820a_0_1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72aebe820a_0_1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72aebe820a_0_1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72aebe820a_0_1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72aebe820a_0_1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72aebe820a_0_1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72aebe820a_0_1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72aebe820a_0_1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72aebe820a_0_1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72aebe820a_0_1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72aebe820a_0_1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72aebe820a_0_1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72aebe820a_0_1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72aebe820a_0_1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72aebe820a_0_1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72aebe820a_0_1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72aebe820a_0_1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72aebe820a_0_1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72aebe820a_0_1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72aebe820a_0_1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72aebe820a_0_1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72aebe820a_0_1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72aebe820a_0_1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72aebe820a_0_1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72aebe820a_0_1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72aebe820a_0_1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72aebe820a_0_1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72aebe820a_0_1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226700" y="1492200"/>
            <a:ext cx="6690600" cy="1586100"/>
          </a:xfrm>
          <a:prstGeom prst="rect">
            <a:avLst/>
          </a:prstGeom>
          <a:ln>
            <a:noFill/>
          </a:ln>
          <a:effectLst>
            <a:outerShdw blurRad="185738" rotWithShape="0" algn="bl" dist="161925">
              <a:srgbClr val="000000">
                <a:alpha val="93000"/>
              </a:srgbClr>
            </a:outerShdw>
            <a:reflection blurRad="0" dir="0" dist="0" endA="0" endPos="47000" fadeDir="5400012" kx="0" rotWithShape="0" algn="bl" stPos="0" sy="-100000" ky="0"/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SW-Request</a:t>
            </a:r>
            <a:endParaRPr b="1" sz="72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104700" y="1301975"/>
            <a:ext cx="8934600" cy="37119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2100000" dist="76200">
              <a:srgbClr val="000000"/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Chapters:</a:t>
            </a:r>
            <a:endParaRPr sz="33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exend SemiBold"/>
              <a:buChar char="●"/>
            </a:pPr>
            <a:r>
              <a:rPr lang="en" sz="28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How create new request:</a:t>
            </a:r>
            <a:endParaRPr sz="28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Lexend SemiBold"/>
              <a:buChar char="○"/>
            </a:pPr>
            <a:r>
              <a:rPr lang="en" sz="25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Create new </a:t>
            </a:r>
            <a:r>
              <a:rPr lang="en" sz="25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customer</a:t>
            </a:r>
            <a:r>
              <a:rPr lang="en" sz="25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 package.</a:t>
            </a:r>
            <a:endParaRPr sz="25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Lexend SemiBold"/>
              <a:buChar char="○"/>
            </a:pPr>
            <a:r>
              <a:rPr lang="en" sz="25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Create new SaaS tenant.</a:t>
            </a:r>
            <a:endParaRPr sz="25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Lexend SemiBold"/>
              <a:buChar char="○"/>
            </a:pPr>
            <a:r>
              <a:rPr lang="en" sz="25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Behind the scene and request status.</a:t>
            </a:r>
            <a:endParaRPr sz="25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exend SemiBold"/>
              <a:buChar char="●"/>
            </a:pPr>
            <a:r>
              <a:rPr lang="en" sz="28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How reset SaaS user password.</a:t>
            </a:r>
            <a:endParaRPr sz="28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452025" y="1692800"/>
            <a:ext cx="8177100" cy="16317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2100000" dist="133350">
              <a:srgbClr val="000000"/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How To Create New Request</a:t>
            </a:r>
            <a:endParaRPr sz="47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013" y="47125"/>
            <a:ext cx="8315975" cy="43449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6"/>
          <p:cNvSpPr txBox="1"/>
          <p:nvPr/>
        </p:nvSpPr>
        <p:spPr>
          <a:xfrm>
            <a:off x="2227950" y="4392100"/>
            <a:ext cx="4688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1.Choose the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desired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customer. 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2.Click on “Related”.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/>
        </p:nvSpPr>
        <p:spPr>
          <a:xfrm>
            <a:off x="2227950" y="4180075"/>
            <a:ext cx="5043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1.Scroll down to “Software Package”.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2.Click on “New”.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6" name="Google Shape;7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4913" y="92775"/>
            <a:ext cx="6154174" cy="4087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75" y="142738"/>
            <a:ext cx="4548325" cy="3836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8"/>
          <p:cNvSpPr txBox="1"/>
          <p:nvPr/>
        </p:nvSpPr>
        <p:spPr>
          <a:xfrm>
            <a:off x="4640925" y="142750"/>
            <a:ext cx="45030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is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new request form. 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form divided into Four parts: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1.Information - always required.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2.Create software package.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3.Create New SaaS tenant.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(You can use it to create one or both of them in same request)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4.System Information - For 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getting “Success”/”Failed”  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status.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/>
        </p:nvSpPr>
        <p:spPr>
          <a:xfrm>
            <a:off x="483450" y="1306500"/>
            <a:ext cx="8177100" cy="25305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2100000" dist="133350">
              <a:srgbClr val="000000"/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Part 1 : </a:t>
            </a:r>
            <a:r>
              <a:rPr b="1" lang="en" sz="4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Create Customer </a:t>
            </a:r>
            <a:endParaRPr b="1" sz="48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45720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   Software Package</a:t>
            </a:r>
            <a:endParaRPr b="1" sz="48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/>
        </p:nvSpPr>
        <p:spPr>
          <a:xfrm>
            <a:off x="1301400" y="3991600"/>
            <a:ext cx="6541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Select the environment type for the protector.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 Select the Delivery type.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" name="Google Shape;9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82825"/>
            <a:ext cx="4252949" cy="3456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382825"/>
            <a:ext cx="4252951" cy="3453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/>
          <p:nvPr/>
        </p:nvSpPr>
        <p:spPr>
          <a:xfrm>
            <a:off x="0" y="3397800"/>
            <a:ext cx="4483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 </a:t>
            </a: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Enter the </a:t>
            </a: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desired </a:t>
            </a: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protector 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version.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 Mark the protector delivery </a:t>
            </a: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type, 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and move it to the “Chosen” 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column by clicking on the small 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arrow.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" name="Google Shape;10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441" y="66050"/>
            <a:ext cx="4150308" cy="3371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9200" y="62488"/>
            <a:ext cx="4150301" cy="337814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1"/>
          <p:cNvSpPr txBox="1"/>
          <p:nvPr/>
        </p:nvSpPr>
        <p:spPr>
          <a:xfrm>
            <a:off x="4483200" y="3397800"/>
            <a:ext cx="4602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 For linux protector, mark the 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“MLP” checkbox.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 In case of On-Prem customer, 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enter server version to create 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server installation. 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/>
        </p:nvSpPr>
        <p:spPr>
          <a:xfrm>
            <a:off x="4609500" y="343500"/>
            <a:ext cx="44832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 In case of SaaS customer, choose  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“Yes” to upload the protectors to 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customer Central Update, 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Otherwize choose “No”.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 In case of On-Prem customer, 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choose “yes” to upload the server 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Installation to Dropbox,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Otherwize choose “No”.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 To upload the protectors to 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Dropbox,choose “Yes”.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25" y="343490"/>
            <a:ext cx="4499774" cy="3657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/>
        </p:nvSpPr>
        <p:spPr>
          <a:xfrm>
            <a:off x="483450" y="1306500"/>
            <a:ext cx="8177100" cy="25305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2100000" dist="133350">
              <a:srgbClr val="000000"/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Part 2 : </a:t>
            </a:r>
            <a:r>
              <a:rPr b="1" lang="en" sz="4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Create Customer </a:t>
            </a:r>
            <a:endParaRPr b="1" sz="48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  SaaS Tenant</a:t>
            </a:r>
            <a:endParaRPr b="1" sz="48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/>
        </p:nvSpPr>
        <p:spPr>
          <a:xfrm>
            <a:off x="1301400" y="3991600"/>
            <a:ext cx="6541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 Select the environment type for the protector.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 Select the Delivery type.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9" name="Google Shape;11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82825"/>
            <a:ext cx="4252949" cy="3456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382825"/>
            <a:ext cx="4252951" cy="3453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/>
        </p:nvSpPr>
        <p:spPr>
          <a:xfrm>
            <a:off x="0" y="3768525"/>
            <a:ext cx="4766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 </a:t>
            </a: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Choose “Yes” to create new 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customer.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 For cloud customer select “Yes”, 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for On Prem customer, select “No”.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6" name="Google Shape;12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00" y="150525"/>
            <a:ext cx="4370751" cy="3546599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5"/>
          <p:cNvSpPr txBox="1"/>
          <p:nvPr/>
        </p:nvSpPr>
        <p:spPr>
          <a:xfrm>
            <a:off x="4572000" y="3768525"/>
            <a:ext cx="4527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In “Add Product” section, select 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“Scout”.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 Enter the Root Email of the 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customer.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8" name="Google Shape;12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7925" y="152400"/>
            <a:ext cx="4370750" cy="3542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/>
        </p:nvSpPr>
        <p:spPr>
          <a:xfrm>
            <a:off x="4572000" y="127575"/>
            <a:ext cx="45603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 Enter the amount of </a:t>
            </a: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purchased</a:t>
            </a: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Endpoints.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 For MSSP customer select “Yes”, 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for On Prem customer, select “No”.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 In  “Deprecated Environment” 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select “No”.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00" y="68925"/>
            <a:ext cx="4452275" cy="360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/>
        </p:nvSpPr>
        <p:spPr>
          <a:xfrm>
            <a:off x="1124100" y="1648350"/>
            <a:ext cx="6895800" cy="9234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2100000" dist="133350">
              <a:srgbClr val="000000"/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Sending The Request</a:t>
            </a:r>
            <a:endParaRPr sz="42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/>
        </p:nvSpPr>
        <p:spPr>
          <a:xfrm>
            <a:off x="105300" y="3740200"/>
            <a:ext cx="4560300" cy="13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 Leave empty the System 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Information fields.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Jenkins will fill them automatically.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 Click “Save”.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" name="Google Shape;14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300" y="152513"/>
            <a:ext cx="4427450" cy="3587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5150" y="152400"/>
            <a:ext cx="4306451" cy="208663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8"/>
          <p:cNvSpPr txBox="1"/>
          <p:nvPr/>
        </p:nvSpPr>
        <p:spPr>
          <a:xfrm>
            <a:off x="4691075" y="2322425"/>
            <a:ext cx="44274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 New request created </a:t>
            </a:r>
            <a:r>
              <a:rPr b="1" lang="en" sz="16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but not sended.</a:t>
            </a:r>
            <a:r>
              <a:rPr b="1"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You can Click it for review and edit.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 To send the request, click on 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“Send Request” </a:t>
            </a:r>
            <a:r>
              <a:rPr b="1"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button</a:t>
            </a:r>
            <a:r>
              <a:rPr b="1"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/>
          <p:nvPr/>
        </p:nvSpPr>
        <p:spPr>
          <a:xfrm>
            <a:off x="483450" y="1306500"/>
            <a:ext cx="8177100" cy="25305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2100000" dist="133350">
              <a:srgbClr val="000000"/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Part 3 : System Information</a:t>
            </a:r>
            <a:r>
              <a:rPr b="1" lang="en" sz="4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-</a:t>
            </a:r>
            <a:endParaRPr b="1" sz="48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      </a:t>
            </a:r>
            <a:r>
              <a:rPr b="1" lang="en" sz="4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Behind</a:t>
            </a:r>
            <a:r>
              <a:rPr b="1" lang="en" sz="4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the </a:t>
            </a:r>
            <a:r>
              <a:rPr b="1" lang="en" sz="4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scene</a:t>
            </a:r>
            <a:endParaRPr b="1" sz="48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/>
        </p:nvSpPr>
        <p:spPr>
          <a:xfrm>
            <a:off x="46900" y="1915400"/>
            <a:ext cx="8938200" cy="30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 </a:t>
            </a: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Clicking the “Send Request” button  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will create a JSON file with all the request details.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 The JSON file will send to AWS S3 bucket.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 Jenkins job named “SW-Request“ check every 30 minutes if there is  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files in this S3 </a:t>
            </a: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ucket.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If there is a new file (new request), the job will download and process it.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8" name="Google Shape;15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6763" y="183800"/>
            <a:ext cx="4810475" cy="166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00" y="219900"/>
            <a:ext cx="5006799" cy="177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1"/>
          <p:cNvSpPr txBox="1"/>
          <p:nvPr/>
        </p:nvSpPr>
        <p:spPr>
          <a:xfrm>
            <a:off x="5143500" y="219900"/>
            <a:ext cx="3910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check the request status:</a:t>
            </a:r>
            <a:endParaRPr b="1" sz="1800" u="sng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 Click on the request number.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5" name="Google Shape;16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700" y="2137800"/>
            <a:ext cx="4520676" cy="2880051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1"/>
          <p:cNvSpPr txBox="1"/>
          <p:nvPr/>
        </p:nvSpPr>
        <p:spPr>
          <a:xfrm>
            <a:off x="4591375" y="2137800"/>
            <a:ext cx="43815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When Jenkins will </a:t>
            </a: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process</a:t>
            </a: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   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request, you can scroll down 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and check those fields: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635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Char char="●"/>
            </a:pP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“Software Request Created Date”.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635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Char char="●"/>
            </a:pP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“Software Request Created  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Success/Error”.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If those are empty, Jenkins didn’t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p</a:t>
            </a: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rocessed</a:t>
            </a: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 request yet.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/>
          <p:nvPr/>
        </p:nvSpPr>
        <p:spPr>
          <a:xfrm>
            <a:off x="483450" y="1833000"/>
            <a:ext cx="8177100" cy="14775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2100000" dist="133350">
              <a:srgbClr val="000000"/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How Reset Password </a:t>
            </a:r>
            <a:endParaRPr sz="42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for SaaS User</a:t>
            </a:r>
            <a:endParaRPr sz="42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 txBox="1"/>
          <p:nvPr/>
        </p:nvSpPr>
        <p:spPr>
          <a:xfrm>
            <a:off x="1839150" y="3764625"/>
            <a:ext cx="5465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84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Choose the desired customer. 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184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on “Reset Password for SAAS”.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7" name="Google Shape;17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3385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/>
          <p:nvPr/>
        </p:nvSpPr>
        <p:spPr>
          <a:xfrm>
            <a:off x="36350" y="1351925"/>
            <a:ext cx="45906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84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 can choose the root email  from the list, or enter email address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manually.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184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on “Next”.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3" name="Google Shape;18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875" y="64125"/>
            <a:ext cx="4376851" cy="124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6225" y="80325"/>
            <a:ext cx="4223001" cy="121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4"/>
          <p:cNvSpPr txBox="1"/>
          <p:nvPr/>
        </p:nvSpPr>
        <p:spPr>
          <a:xfrm>
            <a:off x="4666225" y="1351925"/>
            <a:ext cx="4223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Password Generated.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/>
          <p:nvPr/>
        </p:nvSpPr>
        <p:spPr>
          <a:xfrm>
            <a:off x="483450" y="1833000"/>
            <a:ext cx="8177100" cy="8313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2100000" dist="133350">
              <a:srgbClr val="000000"/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Questions?</a:t>
            </a:r>
            <a:endParaRPr sz="42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